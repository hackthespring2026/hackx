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Barlow"/>
      <p:regular r:id="rId15"/>
    </p:embeddedFont>
    <p:embeddedFont>
      <p:font typeface="Barlow"/>
      <p:regular r:id="rId16"/>
    </p:embeddedFont>
    <p:embeddedFont>
      <p:font typeface="Barlow"/>
      <p:regular r:id="rId17"/>
    </p:embeddedFont>
    <p:embeddedFont>
      <p:font typeface="Barlow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8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735574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Silent-Protocol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2534841"/>
            <a:ext cx="6767632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Context-Aware Privacy Proxy</a:t>
            </a:r>
            <a:endParaRPr lang="en-US" sz="3550" dirty="0"/>
          </a:p>
        </p:txBody>
      </p:sp>
      <p:sp>
        <p:nvSpPr>
          <p:cNvPr id="5" name="Shape 2"/>
          <p:cNvSpPr/>
          <p:nvPr/>
        </p:nvSpPr>
        <p:spPr>
          <a:xfrm>
            <a:off x="6244709" y="3673554"/>
            <a:ext cx="2614970" cy="407075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</p:sp>
      <p:sp>
        <p:nvSpPr>
          <p:cNvPr id="6" name="Text 3"/>
          <p:cNvSpPr/>
          <p:nvPr/>
        </p:nvSpPr>
        <p:spPr>
          <a:xfrm>
            <a:off x="6374606" y="3738443"/>
            <a:ext cx="2355175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INNOVATION TRACK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244709" y="4324350"/>
            <a:ext cx="4772739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next-generation privacy proxy that lets professionals harness the power of public LLMs — without ever exposing sensitive data.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553706" y="3646408"/>
            <a:ext cx="232588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Team Members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553706" y="4219218"/>
            <a:ext cx="2325886" cy="153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Divya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Frontend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Aum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Backend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Aayush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Core Engine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553706" y="5952411"/>
            <a:ext cx="232588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8386" y="698183"/>
            <a:ext cx="4902637" cy="612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Problem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138386" y="1551265"/>
            <a:ext cx="7840028" cy="1374934"/>
          </a:xfrm>
          <a:prstGeom prst="roundRect">
            <a:avLst>
              <a:gd name="adj" fmla="val 7981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526" y="1551265"/>
            <a:ext cx="91440" cy="13749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16040" y="1760339"/>
            <a:ext cx="2724507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Professionals Need LLMs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6416040" y="2162770"/>
            <a:ext cx="73533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Professionals require LLMs to accelerate workflows but possess data too sensitive for public APIs.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138386" y="3086338"/>
            <a:ext cx="7840028" cy="1374934"/>
          </a:xfrm>
          <a:prstGeom prst="roundRect">
            <a:avLst>
              <a:gd name="adj" fmla="val 7981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26" y="3086338"/>
            <a:ext cx="91440" cy="13749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16040" y="3295412"/>
            <a:ext cx="2831187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Self-Hosting Is Prohibitive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6416040" y="3697843"/>
            <a:ext cx="73533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Self-hosted LLMs incur costs exceeding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$50k/year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offer inferior generation quality compared to top models.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138386" y="4621411"/>
            <a:ext cx="7840028" cy="1374934"/>
          </a:xfrm>
          <a:prstGeom prst="roundRect">
            <a:avLst>
              <a:gd name="adj" fmla="val 7981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526" y="4621411"/>
            <a:ext cx="91440" cy="13749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16040" y="4830485"/>
            <a:ext cx="3027164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Redaction Destroys Context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6416040" y="5232916"/>
            <a:ext cx="73533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 text redaction destroys contextual integrity, rendering LLM outputs useless.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138386" y="6156484"/>
            <a:ext cx="7840028" cy="1374934"/>
          </a:xfrm>
          <a:prstGeom prst="roundRect">
            <a:avLst>
              <a:gd name="adj" fmla="val 7981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526" y="6156484"/>
            <a:ext cx="91440" cy="137493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16040" y="6365558"/>
            <a:ext cx="2451259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Compliance Failures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6416040" y="6767989"/>
            <a:ext cx="73533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Enterprise APIs transmit raw data over the wire, failing strict compliance requirements.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79" y="558879"/>
            <a:ext cx="5348288" cy="668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Solution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1279" y="1608653"/>
            <a:ext cx="13207841" cy="63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Silent-Protocol functions as an </a:t>
            </a:r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intermediary proxy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between the user and public LLMs — preserving full context while keeping real data private.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677" y="2453164"/>
            <a:ext cx="10271046" cy="470070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2612" y="3626804"/>
            <a:ext cx="660379" cy="66037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44256" y="5832264"/>
            <a:ext cx="1928306" cy="782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Reconstruct Reply</a:t>
            </a:r>
            <a:endParaRPr lang="en-US" sz="2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5006" y="3628042"/>
            <a:ext cx="660380" cy="66037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14061" y="6027694"/>
            <a:ext cx="1928307" cy="391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LLM Process</a:t>
            </a:r>
            <a:endParaRPr lang="en-US" sz="24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98019" y="3628042"/>
            <a:ext cx="660379" cy="66037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197074" y="5832264"/>
            <a:ext cx="1928306" cy="782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Forward to LLM</a:t>
            </a:r>
            <a:endParaRPr lang="en-US" sz="24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67824" y="3628042"/>
            <a:ext cx="660379" cy="66037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727257" y="6027694"/>
            <a:ext cx="1928306" cy="391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Alias Prompt</a:t>
            </a:r>
            <a:endParaRPr lang="en-US" sz="2450" dirty="0"/>
          </a:p>
        </p:txBody>
      </p:sp>
      <p:sp>
        <p:nvSpPr>
          <p:cNvPr id="13" name="Text 6"/>
          <p:cNvSpPr/>
          <p:nvPr/>
        </p:nvSpPr>
        <p:spPr>
          <a:xfrm>
            <a:off x="711279" y="7368302"/>
            <a:ext cx="13207841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LLM operates without access to real data while delivering a fully contextualized response.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7086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 Architecture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316837"/>
            <a:ext cx="6448544" cy="649962"/>
          </a:xfrm>
          <a:prstGeom prst="roundRect">
            <a:avLst>
              <a:gd name="adj" fmla="val 48001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0120" y="2479238"/>
            <a:ext cx="324922" cy="3249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4884" y="318337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Entity Detection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74884" y="3669506"/>
            <a:ext cx="601539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detects sensitive entities using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regex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a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GLiNER NER model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423428" y="2316837"/>
            <a:ext cx="6448663" cy="649962"/>
          </a:xfrm>
          <a:prstGeom prst="roundRect">
            <a:avLst>
              <a:gd name="adj" fmla="val 48001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5239" y="2479238"/>
            <a:ext cx="324922" cy="3249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40003" y="318337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Alias Manager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640003" y="3669506"/>
            <a:ext cx="60155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Replaces detected entities with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session-consistent fake aliases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using the Faker library.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58309" y="4796076"/>
            <a:ext cx="6448544" cy="649962"/>
          </a:xfrm>
          <a:prstGeom prst="roundRect">
            <a:avLst>
              <a:gd name="adj" fmla="val 48001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20120" y="4958477"/>
            <a:ext cx="324922" cy="3249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4884" y="566261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LLM Forwarding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74884" y="6148745"/>
            <a:ext cx="601539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sanitized prompt is forwarded to the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Groq LLM API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7423428" y="4796076"/>
            <a:ext cx="6448663" cy="649962"/>
          </a:xfrm>
          <a:prstGeom prst="roundRect">
            <a:avLst>
              <a:gd name="adj" fmla="val 48001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85239" y="4958477"/>
            <a:ext cx="324922" cy="32492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40003" y="5662613"/>
            <a:ext cx="326028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Response Reconstruction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640003" y="6148745"/>
            <a:ext cx="60155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reconstructs the final response by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mapping aliases back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the original entities.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99034"/>
            <a:ext cx="876550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Core Differentiator: 3-Tier Pipeline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945011"/>
            <a:ext cx="4226838" cy="3485555"/>
          </a:xfrm>
          <a:prstGeom prst="roundRect">
            <a:avLst>
              <a:gd name="adj" fmla="val 932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2504" y="316920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5F6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REPLACE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82504" y="3655338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Executes full substitution with fake data for critical PII.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82504" y="4592479"/>
            <a:ext cx="3778448" cy="1267182"/>
          </a:xfrm>
          <a:prstGeom prst="roundRect">
            <a:avLst>
              <a:gd name="adj" fmla="val 25647"/>
            </a:avLst>
          </a:prstGeom>
          <a:solidFill>
            <a:srgbClr val="BEDFF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078" y="4925020"/>
            <a:ext cx="270748" cy="2165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86401" y="4863108"/>
            <a:ext cx="285797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"Dr. Priya Sharma" → "Vikram Patel"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201722" y="2945011"/>
            <a:ext cx="4226838" cy="3485555"/>
          </a:xfrm>
          <a:prstGeom prst="roundRect">
            <a:avLst>
              <a:gd name="adj" fmla="val 932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25916" y="316920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5F6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PERTURB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5916" y="3655338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Introduces minor numerical noise to obscure exact values.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25916" y="4592479"/>
            <a:ext cx="3778448" cy="1267182"/>
          </a:xfrm>
          <a:prstGeom prst="roundRect">
            <a:avLst>
              <a:gd name="adj" fmla="val 25647"/>
            </a:avLst>
          </a:prstGeom>
          <a:solidFill>
            <a:srgbClr val="BEDFF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491" y="4925020"/>
            <a:ext cx="270748" cy="2165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29814" y="4863108"/>
            <a:ext cx="285797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"₹3.5 lakh" → "₹3.9 lakh"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9645134" y="2945011"/>
            <a:ext cx="4226957" cy="3485555"/>
          </a:xfrm>
          <a:prstGeom prst="roundRect">
            <a:avLst>
              <a:gd name="adj" fmla="val 932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69329" y="316920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5F6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PRESERVE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9869329" y="3655338"/>
            <a:ext cx="377856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Maintains domain-specific terminology unmodified.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9869329" y="4592479"/>
            <a:ext cx="3778568" cy="1613892"/>
          </a:xfrm>
          <a:prstGeom prst="roundRect">
            <a:avLst>
              <a:gd name="adj" fmla="val 20137"/>
            </a:avLst>
          </a:prstGeom>
          <a:solidFill>
            <a:srgbClr val="BEDFF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903" y="4925020"/>
            <a:ext cx="270748" cy="2165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73226" y="4863108"/>
            <a:ext cx="285809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"Metformin 500mg" remains "Metformin 500mg"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938808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Real-World Implementation Example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02218" y="2689146"/>
            <a:ext cx="3861554" cy="4601647"/>
          </a:xfrm>
          <a:prstGeom prst="roundRect">
            <a:avLst>
              <a:gd name="adj" fmla="val 13466"/>
            </a:avLst>
          </a:prstGeom>
          <a:solidFill>
            <a:srgbClr val="063E5F"/>
          </a:solidFill>
          <a:ln/>
        </p:spPr>
      </p:sp>
      <p:sp>
        <p:nvSpPr>
          <p:cNvPr id="5" name="Text 2"/>
          <p:cNvSpPr/>
          <p:nvPr/>
        </p:nvSpPr>
        <p:spPr>
          <a:xfrm>
            <a:off x="818793" y="290572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5BA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 Input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3714" y="3505676"/>
            <a:ext cx="3103483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"Draft an NDA between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Apple Inc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Samsung Electronics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regarding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Titan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battery technology."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18793" y="3505676"/>
            <a:ext cx="30480" cy="1733550"/>
          </a:xfrm>
          <a:prstGeom prst="rect">
            <a:avLst/>
          </a:prstGeom>
          <a:solidFill>
            <a:srgbClr val="75BAE6"/>
          </a:solidFill>
          <a:ln/>
        </p:spPr>
      </p:sp>
      <p:sp>
        <p:nvSpPr>
          <p:cNvPr id="8" name="Text 5"/>
          <p:cNvSpPr/>
          <p:nvPr/>
        </p:nvSpPr>
        <p:spPr>
          <a:xfrm>
            <a:off x="4843939" y="2905720"/>
            <a:ext cx="331934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589C9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Proxied Input Seen by LLM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168860" y="3505676"/>
            <a:ext cx="3224451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"Draft an NDA between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Orion Corp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Vega Industries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regarding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Falcon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battery technology."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843939" y="3505676"/>
            <a:ext cx="30480" cy="1386840"/>
          </a:xfrm>
          <a:prstGeom prst="rect">
            <a:avLst/>
          </a:prstGeom>
          <a:solidFill>
            <a:srgbClr val="75BAE6"/>
          </a:solidFill>
          <a:ln/>
        </p:spPr>
      </p:sp>
      <p:sp>
        <p:nvSpPr>
          <p:cNvPr id="11" name="Text 8"/>
          <p:cNvSpPr/>
          <p:nvPr/>
        </p:nvSpPr>
        <p:spPr>
          <a:xfrm>
            <a:off x="4843939" y="51362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Output Delivery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843939" y="5709047"/>
            <a:ext cx="354937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maps the aliases back to deliver a precise legal document containing the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entity names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2450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Technical Stack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8309" y="2870478"/>
            <a:ext cx="433268" cy="4332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2326" y="294489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462326" y="3431024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Constructed using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HTML, CSS, and Vanilla JavaScript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9819" y="2870478"/>
            <a:ext cx="433268" cy="4332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23836" y="294489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Backend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923836" y="3431024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Powered by the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framework utilizing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3.11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1329" y="2870478"/>
            <a:ext cx="433268" cy="4332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85346" y="294489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NER Engine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385346" y="3431024"/>
            <a:ext cx="348674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GLiNER zero-shot model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implemented for entity detection without retraining.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309" y="4904423"/>
            <a:ext cx="433268" cy="4332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2326" y="49788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Generation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462326" y="5464969"/>
            <a:ext cx="348674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Faker library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deployed to generate realistic, locale-aware aliases.</a:t>
            </a:r>
            <a:endParaRPr lang="en-US" sz="17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19819" y="4904423"/>
            <a:ext cx="433268" cy="4332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23836" y="49788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LLM Integration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923836" y="5464969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Groq API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utilizing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Llama 3.3 70b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rapid inference.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5452" y="597218"/>
            <a:ext cx="6986111" cy="70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Testing Metrics &amp; Validation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5452" y="1845112"/>
            <a:ext cx="4193977" cy="712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40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432322" y="2826425"/>
            <a:ext cx="2840236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Real-World Prompts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55452" y="3310414"/>
            <a:ext cx="4193977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Executed with </a:t>
            </a:r>
            <a:pPr algn="ctr"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 processing errors</a:t>
            </a:r>
            <a:pPr algn="ctr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218152" y="1845112"/>
            <a:ext cx="4193977" cy="712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394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895023" y="2826425"/>
            <a:ext cx="2840236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Entities Detected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8152" y="3310414"/>
            <a:ext cx="4193977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Across all test cases.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80853" y="1845112"/>
            <a:ext cx="4194096" cy="712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95%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0357723" y="2826425"/>
            <a:ext cx="2840236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HIPAA Safe Harbor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80853" y="3310414"/>
            <a:ext cx="4194096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Approximate coverage rate achieved.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55452" y="3977640"/>
            <a:ext cx="2840236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Pipeline Distribution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55452" y="4763095"/>
            <a:ext cx="3520797" cy="269796"/>
          </a:xfrm>
          <a:prstGeom prst="roundRect">
            <a:avLst>
              <a:gd name="adj" fmla="val 12001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452" y="4763095"/>
            <a:ext cx="2077164" cy="2697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438055" y="4763095"/>
            <a:ext cx="511373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59%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755452" y="5301972"/>
            <a:ext cx="2840236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Replaced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55452" y="5785961"/>
            <a:ext cx="4193977" cy="68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233 entities fully substituted with fake aliases.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5218152" y="4763095"/>
            <a:ext cx="3564612" cy="269796"/>
          </a:xfrm>
          <a:prstGeom prst="roundRect">
            <a:avLst>
              <a:gd name="adj" fmla="val 12001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152" y="4763095"/>
            <a:ext cx="748546" cy="2697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944570" y="4763095"/>
            <a:ext cx="467558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21%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5218152" y="5301972"/>
            <a:ext cx="2840236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Perturbed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5218152" y="5785961"/>
            <a:ext cx="4193977" cy="68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81 entities modified with numerical noise.</a:t>
            </a:r>
            <a:endParaRPr lang="en-US" sz="1650" dirty="0"/>
          </a:p>
        </p:txBody>
      </p:sp>
      <p:sp>
        <p:nvSpPr>
          <p:cNvPr id="23" name="Shape 19"/>
          <p:cNvSpPr/>
          <p:nvPr/>
        </p:nvSpPr>
        <p:spPr>
          <a:xfrm>
            <a:off x="9680853" y="4763095"/>
            <a:ext cx="3504724" cy="269796"/>
          </a:xfrm>
          <a:prstGeom prst="roundRect">
            <a:avLst>
              <a:gd name="adj" fmla="val 12001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0853" y="4763095"/>
            <a:ext cx="700921" cy="2697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347383" y="4763095"/>
            <a:ext cx="527566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20%</a:t>
            </a:r>
            <a:endParaRPr lang="en-US" sz="2100" dirty="0"/>
          </a:p>
        </p:txBody>
      </p:sp>
      <p:sp>
        <p:nvSpPr>
          <p:cNvPr id="26" name="Text 21"/>
          <p:cNvSpPr/>
          <p:nvPr/>
        </p:nvSpPr>
        <p:spPr>
          <a:xfrm>
            <a:off x="9680853" y="5301972"/>
            <a:ext cx="2840236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Preserved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9680853" y="5785961"/>
            <a:ext cx="4194096" cy="68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 domain-specific terms kept unmodified.</a:t>
            </a:r>
            <a:endParaRPr lang="en-US" sz="1650" dirty="0"/>
          </a:p>
        </p:txBody>
      </p:sp>
      <p:sp>
        <p:nvSpPr>
          <p:cNvPr id="28" name="Shape 23"/>
          <p:cNvSpPr/>
          <p:nvPr/>
        </p:nvSpPr>
        <p:spPr>
          <a:xfrm>
            <a:off x="755452" y="6717268"/>
            <a:ext cx="13119497" cy="914995"/>
          </a:xfrm>
          <a:prstGeom prst="roundRect">
            <a:avLst>
              <a:gd name="adj" fmla="val 35387"/>
            </a:avLst>
          </a:prstGeom>
          <a:solidFill>
            <a:srgbClr val="BEDFF3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12" y="7041952"/>
            <a:ext cx="269796" cy="2158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56968" y="6986230"/>
            <a:ext cx="12202120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Privacy Score: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Integrated metric to quantify risk level and identifiers protected per prompt.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2026-02-21T05:34:45Z</dcterms:created>
  <dcterms:modified xsi:type="dcterms:W3CDTF">2026-02-21T05:34:45Z</dcterms:modified>
</cp:coreProperties>
</file>